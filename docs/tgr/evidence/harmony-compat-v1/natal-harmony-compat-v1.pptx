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 standalone="yes"?><p:sldLayout xmlns:a="http://schemas.openxmlformats.org/drawingml/2006/main" xmlns:r="http://schemas.openxmlformats.org/officeDocument/2006/relationships" xmlns:p="http://schemas.openxmlformats.org/presentationml/2006/main" type="blank" preserve="1"><p:cSld name="Blank"><p:spTree><p:sp><p:nvGrpSpPr><p:cNvPr id="1" name=""/><p:cNvGrpSpPr/><p:nvPr/></p:nvGrpSpPr><p:grpSpPr><a:xfrm><a:off x="0" y="0"/><a:ext cx="0" cy="0"/><a:chOff x="0" y="0"/><a:chExt cx="0" cy="0"/></a:xfrm></p:grpSpPr></p:spTree></p:cSld><p:clrMapOvr><a:masterClrMapping/></p:clrMapOvr>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 standalone="yes"?><p:sldMaster xmlns:a="http://schemas.openxmlformats.org/drawingml/2006/main" xmlns:r="http://schemas.openxmlformats.org/officeDocument/2006/relationships" xmlns:p="http://schemas.openxmlformats.org/presentationml/2006/main"><p:cSld name="TGR Master"><p:spTree><p:sp><p:nvGrpSpPr><p:cNvPr id="1" name=""/><p:cNvGrpSpPr/><p:nvPr/></p:nvGrpSpPr><p:grpSpPr><a:xfrm><a:off x="0" y="0"/><a:ext cx="0" cy="0"/><a:chOff x="0" y="0"/><a:chExt cx="0" cy="0"/></a:xfrm></p:grpSpPr></p:spTree></p:cSld><p:clrMap bg1="lt1" tx1="dk1" bg2="lt2" tx2="dk2" accent1="accent1" accent2="accent2" accent3="accent3" accent4="accent4" accent5="accent5" accent6="accent6" hlink="hlink" folHlink="folHlink"/><p:sldLayoutIdLst><p:sldLayoutId id="1" r:id="rId1"/></p:sldLayoutIdLst><p:txStyles/>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0B1220"/></a:solidFill><a:ln><a:solidFill><a:srgbClr val="0B1220"/></a:solidFill></a:ln></p:spPr></p:sp><p:sp><p:nvSpPr><p:cNvPr id="3" name="Header panel"/><p:cNvSpPr/><p:nvPr/></p:nvSpPr><p:spPr><a:xfrm><a:off x="411480" y="365760"/><a:ext cx="11356848" cy="1645920"/></a:xfrm><a:prstGeom prst="rect"><a:avLst/></a:prstGeom><a:solidFill><a:srgbClr val="111C2F"/></a:solidFill><a:ln><a:solidFill><a:srgbClr val="263750"/></a:solidFill></a:ln></p:spPr></p:sp><p:sp><p:nvSpPr><p:cNvPr id="4" name="Eyebrow"/><p:cNvSpPr/><p:nvPr/></p:nvSpPr><p:spPr><a:xfrm><a:off x="658368" y="585216"/><a:ext cx="3840480" cy="201168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800" b="1" solidFill="E8BD5A"/><a:t>COMITÊ DE INVESTIMENTO</a:t></a:r><a:endParaRPr lang="pt-BR" sz="800" solidFill="E8BD5A"/></a:p></p:txBody></p:sp><p:sp><p:nvSpPr><p:cNvPr id="5" name="Title"/><p:cNvSpPr/><p:nvPr/></p:nvSpPr><p:spPr><a:xfrm><a:off x="658368" y="877824"/><a:ext cx="6583680" cy="438912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2700" b="1" solidFill="E8EDF5"/><a:t>Decisão com memória</a:t></a:r><a:endParaRPr lang="pt-BR" sz="2700" solidFill="E8EDF5"/></a:p></p:txBody></p:sp><p:sp><p:nvSpPr><p:cNvPr id="6" name="Subtitle"/><p:cNvSpPr/><p:nvPr/></p:nvSpPr><p:spPr><a:xfrm><a:off x="658368" y="1389888"/><a:ext cx="6217920" cy="237744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1100" solidFill="93A0B4"/><a:t>TGR Consulting · Snapshot autoritativo, validado e aprovado</a:t></a:r><a:endParaRPr lang="pt-BR" sz="1100" solidFill="93A0B4"/></a:p></p:txBody></p:sp><p:sp><p:nvSpPr><p:cNvPr id="7" name="Hash"/><p:cNvSpPr/><p:nvPr/></p:nvSpPr><p:spPr><a:xfrm><a:off x="658368" y="1764792"/><a:ext cx="10607040" cy="201168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560" b="1" solidFill="E8BD5A"/><a:t>FORMULA SET 1.0.0 · ENGINE harmony-compat-engine-v1 · SNAPSHOT HASH 43318f57675ae82fa0d6005a27e08ed2671a4458e3c5677f6d15dac078cbe3bd</a:t></a:r><a:endParaRPr lang="pt-BR" sz="560" solidFill="E8BD5A"/></a:p></p:txBody></p:sp><p:sp><p:nvSpPr><p:cNvPr id="31" name="Financial model"/><p:cNvSpPr/><p:nvPr/></p:nvSpPr><p:spPr><a:xfrm><a:off x="658368" y="1554480"/><a:ext cx="8046720" cy="164592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720" b="1" solidFill="E8EDF5"/><a:t>MODELO FINANCEIRO HARMONY_COMPAT_V1 · Harmony Compatível V1</a:t></a:r><a:endParaRPr lang="pt-BR" sz="720" solidFill="E8EDF5"/></a:p></p:txBody></p:sp><p:sp><p:nvSpPr><p:cNvPr id="32" name="Compatibility authority"/><p:cNvSpPr/><p:nvPr/></p:nvSpPr><p:spPr><a:xfrm><a:off x="658368" y="2011680"/><a:ext cx="10607040" cy="164592"/></a:xfrm><a:prstGeom prst="rect"><a:avLst/></a:prstGeom><a:solidFill><a:srgbClr val="111C2F"/></a:solidFill><a:ln><a:solidFill><a:srgbClr val="111C2F"/></a:solidFill></a:ln></p:spPr><p:txBody><a:bodyPr lIns="0" rIns="0" tIns="0" bIns="0"/><a:lstStyle/><a:p><a:r><a:rPr lang="pt-BR" sz="520" b="1" solidFill="E8BD5A"/><a:t>CANONICAL_FROM_HARMONY_MASTER_V1 · GOLDEN HARMONY CERTIFICADO · SC-001</a:t></a:r><a:endParaRPr lang="pt-BR" sz="520" solidFill="E8BD5A"/></a:p></p:txBody></p:sp><p:sp><p:nvSpPr><p:cNvPr id="8" name="Metric panel 1"/><p:cNvSpPr/><p:nvPr/></p:nvSpPr><p:spPr><a:xfrm><a:off x="411480" y="2331720"/><a:ext cx="2606040" cy="1234440"/></a:xfrm><a:prstGeom prst="rect"><a:avLst/></a:prstGeom><a:solidFill><a:srgbClr val="111C2F"/></a:solidFill><a:ln><a:solidFill><a:srgbClr val="263750"/></a:solidFill></a:ln></p:spPr></p:sp><p:sp><p:nvSpPr><p:cNvPr id="9" name="Metric VPL"/><p:cNvSpPr/><p:nvPr/></p:nvSpPr><p:spPr><a:xfrm><a:off x="576072" y="2560320"/><a:ext cx="2267712" cy="777240"/></a:xfrm><a:prstGeom prst="rect"><a:avLst/></a:prstGeom><a:solidFill><a:srgbClr val="111C2F"/></a:solidFill><a:ln><a:solidFill><a:srgbClr val="111C2F"/></a:solidFill></a:ln></p:spPr><p:txBody><a:bodyPr lIns="54864" rIns="54864" tIns="54864" bIns="54864"/><a:lstStyle/><a:p><a:r><a:rPr lang="pt-BR" sz="1100" b="1" solidFill="E8EDF5"/><a:t>VPL
23086488.47142834</a:t></a:r><a:endParaRPr lang="pt-BR" sz="1100" solidFill="E8EDF5"/></a:p></p:txBody></p:sp><p:sp><p:nvSpPr><p:cNvPr id="10" name="Metric panel 2"/><p:cNvSpPr/><p:nvPr/></p:nvSpPr><p:spPr><a:xfrm><a:off x="3264408" y="2331720"/><a:ext cx="2606040" cy="1234440"/></a:xfrm><a:prstGeom prst="rect"><a:avLst/></a:prstGeom><a:solidFill><a:srgbClr val="111C2F"/></a:solidFill><a:ln><a:solidFill><a:srgbClr val="263750"/></a:solidFill></a:ln></p:spPr></p:sp><p:sp><p:nvSpPr><p:cNvPr id="11" name="Metric TIR ANUAL"/><p:cNvSpPr/><p:nvPr/></p:nvSpPr><p:spPr><a:xfrm><a:off x="3429000" y="2560320"/><a:ext cx="2267712" cy="777240"/></a:xfrm><a:prstGeom prst="rect"><a:avLst/></a:prstGeom><a:solidFill><a:srgbClr val="111C2F"/></a:solidFill><a:ln><a:solidFill><a:srgbClr val="111C2F"/></a:solidFill></a:ln></p:spPr><p:txBody><a:bodyPr lIns="54864" rIns="54864" tIns="54864" bIns="54864"/><a:lstStyle/><a:p><a:r><a:rPr lang="pt-BR" sz="1100" b="1" solidFill="E8EDF5"/><a:t>TIR ANUAL
1.55502778</a:t></a:r><a:endParaRPr lang="pt-BR" sz="1100" solidFill="E8EDF5"/></a:p></p:txBody></p:sp><p:sp><p:nvSpPr><p:cNvPr id="12" name="Metric panel 3"/><p:cNvSpPr/><p:nvPr/></p:nvSpPr><p:spPr><a:xfrm><a:off x="6117336" y="2331720"/><a:ext cx="2606040" cy="1234440"/></a:xfrm><a:prstGeom prst="rect"><a:avLst/></a:prstGeom><a:solidFill><a:srgbClr val="111C2F"/></a:solidFill><a:ln><a:solidFill><a:srgbClr val="263750"/></a:solidFill></a:ln></p:spPr></p:sp><p:sp><p:nvSpPr><p:cNvPr id="13" name="Metric PAYBACK"/><p:cNvSpPr/><p:nvPr/></p:nvSpPr><p:spPr><a:xfrm><a:off x="6281928" y="2560320"/><a:ext cx="2267712" cy="777240"/></a:xfrm><a:prstGeom prst="rect"><a:avLst/></a:prstGeom><a:solidFill><a:srgbClr val="111C2F"/></a:solidFill><a:ln><a:solidFill><a:srgbClr val="111C2F"/></a:solidFill></a:ln></p:spPr><p:txBody><a:bodyPr lIns="54864" rIns="54864" tIns="54864" bIns="54864"/><a:lstStyle/><a:p><a:r><a:rPr lang="pt-BR" sz="1100" b="1" solidFill="E8EDF5"/><a:t>PAYBACK
22.00000000 meses</a:t></a:r><a:endParaRPr lang="pt-BR" sz="1100" solidFill="E8EDF5"/></a:p></p:txBody></p:sp><p:sp><p:nvSpPr><p:cNvPr id="14" name="Metric panel 4"/><p:cNvSpPr/><p:nvPr/></p:nvSpPr><p:spPr><a:xfrm><a:off x="8970264" y="2331720"/><a:ext cx="2606040" cy="1234440"/></a:xfrm><a:prstGeom prst="rect"><a:avLst/></a:prstGeom><a:solidFill><a:srgbClr val="111C2F"/></a:solidFill><a:ln><a:solidFill><a:srgbClr val="263750"/></a:solidFill></a:ln></p:spPr></p:sp><p:sp><p:nvSpPr><p:cNvPr id="15" name="Metric CAIXA OPERACIONAL"/><p:cNvSpPr/><p:nvPr/></p:nvSpPr><p:spPr><a:xfrm><a:off x="9134856" y="2560320"/><a:ext cx="2267712" cy="777240"/></a:xfrm><a:prstGeom prst="rect"><a:avLst/></a:prstGeom><a:solidFill><a:srgbClr val="111C2F"/></a:solidFill><a:ln><a:solidFill><a:srgbClr val="111C2F"/></a:solidFill></a:ln></p:spPr><p:txBody><a:bodyPr lIns="54864" rIns="54864" tIns="54864" bIns="54864"/><a:lstStyle/><a:p><a:r><a:rPr lang="pt-BR" sz="1100" b="1" solidFill="E8EDF5"/><a:t>CAIXA OPERACIONAL
56704793.28000000</a:t></a:r><a:endParaRPr lang="pt-BR" sz="1100" solidFill="E8EDF5"/></a:p></p:txBody></p:sp><p:sp><p:nvSpPr><p:cNvPr id="16" name="Memory heading"/><p:cNvSpPr/><p:nvPr/></p:nvSpPr><p:spPr><a:xfrm><a:off x="411480" y="3913632"/><a:ext cx="3657600" cy="256032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800" b="1" solidFill="E8BD5A"/><a:t>MEMÓRIA DE CÁLCULO</a:t></a:r><a:endParaRPr lang="pt-BR" sz="800" solidFill="E8BD5A"/></a:p></p:txBody></p:sp><p:sp><p:nvSpPr><p:cNvPr id="17" name="Memory 1"/><p:cNvSpPr/><p:nvPr/></p:nvSpPr><p:spPr><a:xfrm><a:off x="411480" y="4315968"/><a:ext cx="11356848" cy="365760"/></a:xfrm><a:prstGeom prst="rect"><a:avLst/></a:prstGeom><a:solidFill><a:srgbClr val="111C2F"/></a:solidFill><a:ln><a:solidFill><a:srgbClr val="263750"/></a:solidFill></a:ln></p:spPr><p:txBody><a:bodyPr lIns="73152" rIns="73152" tIns="73152" bIns="73152"/><a:lstStyle/><a:p><a:r><a:rPr lang="pt-BR" sz="760" solidFill="E8EDF5"/><a:t>Cancelamento imediato Harmony: 3120.00000000  |  harmony-cancellation-immediate@1.0.0  |  Contratos líquidos após cancelamento imediato, limitados ao estoque físico.</a:t></a:r><a:endParaRPr lang="pt-BR" sz="760" solidFill="E8EDF5"/></a:p></p:txBody></p:sp><p:sp><p:nvSpPr><p:cNvPr id="18" name="Memory 2"/><p:cNvSpPr/><p:nvPr/></p:nvSpPr><p:spPr><a:xfrm><a:off x="411480" y="4791456"/><a:ext cx="11356848" cy="365760"/></a:xfrm><a:prstGeom prst="rect"><a:avLst/></a:prstGeom><a:solidFill><a:srgbClr val="111C2F"/></a:solidFill><a:ln><a:solidFill><a:srgbClr val="263750"/></a:solidFill></a:ln></p:spPr><p:txBody><a:bodyPr lIns="73152" rIns="73152" tIns="73152" bIns="73152"/><a:lstStyle/><a:p><a:r><a:rPr lang="pt-BR" sz="760" solidFill="93A0B4"/><a:t>Entrada contratada Harmony: 9984000.00000000  |  harmony-gross-entry-generated@1.0.0  |  Entrada contratada pelas coortes líquidas.</a:t></a:r><a:endParaRPr lang="pt-BR" sz="760" solidFill="93A0B4"/></a:p></p:txBody></p:sp><p:sp><p:nvSpPr><p:cNvPr id="19" name="Memory 3"/><p:cNvSpPr/><p:nvPr/></p:nvSpPr><p:spPr><a:xfrm><a:off x="411480" y="5266944"/><a:ext cx="11356848" cy="365760"/></a:xfrm><a:prstGeom prst="rect"><a:avLst/></a:prstGeom><a:solidFill><a:srgbClr val="111C2F"/></a:solidFill><a:ln><a:solidFill><a:srgbClr val="263750"/></a:solidFill></a:ln></p:spPr><p:txBody><a:bodyPr lIns="73152" rIns="73152" tIns="73152" bIns="73152"/><a:lstStyle/><a:p><a:r><a:rPr lang="pt-BR" sz="760" solidFill="93A0B4"/><a:t>Saldo recebido com início em M5 Harmony: 77376000.00000000  |  harmony-balance-settled-m5@1.0.0  |  Saldo recebido a partir de M5 por coorte.</a:t></a:r><a:endParaRPr lang="pt-BR" sz="760" solidFill="93A0B4"/></a:p></p:txBody></p:sp><p:sp><p:nvSpPr><p:cNvPr id="20" name="Memory 4"/><p:cNvSpPr/><p:nvPr/></p:nvSpPr><p:spPr><a:xfrm><a:off x="411480" y="5742432"/><a:ext cx="11356848" cy="365760"/></a:xfrm><a:prstGeom prst="rect"><a:avLst/></a:prstGeom><a:solidFill><a:srgbClr val="111C2F"/></a:solidFill><a:ln><a:solidFill><a:srgbClr val="263750"/></a:solidFill></a:ln></p:spPr><p:txBody><a:bodyPr lIns="73152" rIns="73152" tIns="73152" bIns="73152"/><a:lstStyle/><a:p><a:r><a:rPr lang="pt-BR" sz="760" solidFill="93A0B4"/><a:t>Recebíveis totais liquidados Harmony: 87360000.00000000  |  harmony-total-receivables-settled@1.0.0  |  Soma da entrada e do saldo efetivamente programados no horizonte.</a:t></a:r><a:endParaRPr lang="pt-BR" sz="760" solidFill="93A0B4"/></a:p></p:txBody></p:sp><p:sp><p:nvSpPr><p:cNvPr id="30" name="Export provenance"/><p:cNvSpPr/><p:nvPr/></p:nvSpPr><p:spPr><a:xfrm><a:off x="411480" y="6419088"/><a:ext cx="11356848" cy="256032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600" solidFill="93A0B4"/><a:t>SNAPSHOT 81k_JA0ROBKLLwd2z4uSV | VERSION x0c6XYXMuJ-Dy1zuDuvsr | GERADO 2026-09-01T21:46:57.551Z | AUTOR TGR Master E2E Owner &lt;tgr-master-e2e@test.local&gt; | baseline/approved</a:t></a:r><a:endParaRPr lang="pt-BR" sz="600" solidFill="93A0B4"/></a:p></p:txBody></p:sp></p:spTree></p:cSld><p:clrMapOvr><a:masterClrMapping/></p:clrMapOvr></p:sld>
</file>

<file path=ppt/slides/slide2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0B1220"/></a:solidFill><a:ln><a:solidFill><a:srgbClr val="0B1220"/></a:solidFill></a:ln></p:spPr></p:sp><p:sp><p:nvSpPr><p:cNvPr id="3" name="Title"/><p:cNvSpPr/><p:nvPr/></p:nvSpPr><p:spPr><a:xfrm><a:off x="502920" y="411480"/><a:ext cx="7772400" cy="5029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2500" b="1" solidFill="E8EDF5"/><a:t>Inputs e Proveniência</a:t></a:r><a:endParaRPr lang="pt-BR" sz="2500" solidFill="E8EDF5"/></a:p></p:txBody></p:sp><p:sp><p:nvSpPr><p:cNvPr id="4" name="Subtitle"/><p:cNvSpPr/><p:nvPr/></p:nvSpPr><p:spPr><a:xfrm><a:off x="502920" y="987552"/><a:ext cx="9601200" cy="2743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980" solidFill="93A0B4"/><a:t>Status, fonte e valor do snapshot exportado</a:t></a:r><a:endParaRPr lang="pt-BR" sz="980" solidFill="93A0B4"/></a:p></p:txBody></p:sp><p:sp><p:nvSpPr><p:cNvPr id="5" name="Inputs e Proveniência row 1"/><p:cNvSpPr/><p:nvPr/></p:nvSpPr><p:spPr><a:xfrm><a:off x="502920" y="15727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E8EDF5"/><a:t>qualifiedCouplesMonth1: 600.00000000 | derived_analysis | authoritative-point-economics</a:t></a:r><a:endParaRPr lang="pt-BR" sz="760" solidFill="E8EDF5"/></a:p></p:txBody></p:sp><p:sp><p:nvSpPr><p:cNvPr id="6" name="Inputs e Proveniência row 2"/><p:cNvSpPr/><p:nvPr/></p:nvSpPr><p:spPr><a:xfrm><a:off x="502920" y="20756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qualifiedCouplesGrowthRate: 0 | derived_analysis | authoritative-point-economics</a:t></a:r><a:endParaRPr lang="pt-BR" sz="760" solidFill="93A0B4"/></a:p></p:txBody></p:sp><p:sp><p:nvSpPr><p:cNvPr id="7" name="Inputs e Proveniência row 3"/><p:cNvSpPr/><p:nvPr/></p:nvSpPr><p:spPr><a:xfrm><a:off x="502920" y="25786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conversionRate: 0.20000000 | derived_analysis | authoritative-point-economics</a:t></a:r><a:endParaRPr lang="pt-BR" sz="760" solidFill="93A0B4"/></a:p></p:txBody></p:sp><p:sp><p:nvSpPr><p:cNvPr id="8" name="Inputs e Proveniência row 4"/><p:cNvSpPr/><p:nvPr/></p:nvSpPr><p:spPr><a:xfrm><a:off x="502920" y="308152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averageTicket: 28000.00000000 | derived_analysis | authoritative-commercial-model</a:t></a:r><a:endParaRPr lang="pt-BR" sz="760" solidFill="93A0B4"/></a:p></p:txBody></p:sp><p:sp><p:nvSpPr><p:cNvPr id="9" name="Inputs e Proveniência row 5"/><p:cNvSpPr/><p:nvPr/></p:nvSpPr><p:spPr><a:xfrm><a:off x="502920" y="358444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collectionRate: 1 | derived_analysis | DERIVED_FROM_CANONICAL_HARMONY_RULES:COTAS_NATAL_HARMONY_GOLDEN_V1</a:t></a:r><a:endParaRPr lang="pt-BR" sz="760" solidFill="93A0B4"/></a:p></p:txBody></p:sp><p:sp><p:nvSpPr><p:cNvPr id="10" name="Inputs e Proveniência row 6"/><p:cNvSpPr/><p:nvPr/></p:nvSpPr><p:spPr><a:xfrm><a:off x="502920" y="40873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cancellationRate: 0.30 | historical_primary | CANONICAL_FROM_HARMONY_MASTER_V1:docs/tgr/golden/COTAS_NATAL_HARMONY_GOLDEN_V1_RULES.json</a:t></a:r><a:endParaRPr lang="pt-BR" sz="760" solidFill="93A0B4"/></a:p></p:txBody></p:sp><p:sp><p:nvSpPr><p:cNvPr id="11" name="Inputs e Proveniência row 7"/><p:cNvSpPr/><p:nvPr/></p:nvSpPr><p:spPr><a:xfrm><a:off x="502920" y="45902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variableCostRate: 0 | derived_analysis | DERIVED_FROM_CANONICAL_HARMONY_RULES:COTAS_NATAL_HARMONY_GOLDEN_V1</a:t></a:r><a:endParaRPr lang="pt-BR" sz="760" solidFill="93A0B4"/></a:p></p:txBody></p:sp><p:sp><p:nvSpPr><p:cNvPr id="12" name="Inputs e Proveniência row 8"/><p:cNvSpPr/><p:nvPr/></p:nvSpPr><p:spPr><a:xfrm><a:off x="502920" y="50932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partnerShareRate: 0 | derived_analysis | DERIVED_FROM_CANONICAL_HARMONY_RULES:COTAS_NATAL_HARMONY_GOLDEN_V1</a:t></a:r><a:endParaRPr lang="pt-BR" sz="760" solidFill="93A0B4"/></a:p></p:txBody></p:sp><p:sp><p:nvSpPr><p:cNvPr id="20" name="Model provenance"/><p:cNvSpPr/><p:nvPr/></p:nvSpPr><p:spPr><a:xfrm><a:off x="502920" y="6355080"/><a:ext cx="11155680" cy="18288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520" b="1" solidFill="E8BD5A"/><a:t>MODELO FINANCEIRO HARMONY_COMPAT_V1 · Harmony Compatível V1 · FORMULA SET 1.0.0 · ENGINE harmony-compat-engine-v1 · SNAPSHOT HASH 43318f57675ae82fa0d6005a27e08ed2671a4458e3c5677f6d15dac078cbe3bd</a:t></a:r><a:endParaRPr lang="pt-BR" sz="520" solidFill="E8BD5A"/></a:p></p:txBody></p:sp></p:spTree></p:cSld><p:clrMapOvr><a:masterClrMapping/></p:clrMapOvr></p:sld>
</file>

<file path=ppt/slides/slide3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0B1220"/></a:solidFill><a:ln><a:solidFill><a:srgbClr val="0B1220"/></a:solidFill></a:ln></p:spPr></p:sp><p:sp><p:nvSpPr><p:cNvPr id="3" name="Title"/><p:cNvSpPr/><p:nvPr/></p:nvSpPr><p:spPr><a:xfrm><a:off x="502920" y="411480"/><a:ext cx="7772400" cy="5029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2500" b="1" solidFill="E8EDF5"/><a:t>Monthly Projection</a:t></a:r><a:endParaRPr lang="pt-BR" sz="2500" solidFill="E8EDF5"/></a:p></p:txBody></p:sp><p:sp><p:nvSpPr><p:cNvPr id="4" name="Subtitle"/><p:cNvSpPr/><p:nvPr/></p:nvSpPr><p:spPr><a:xfrm><a:off x="502920" y="987552"/><a:ext cx="9601200" cy="2743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980" solidFill="93A0B4"/><a:t>Primeiros meses carregados do snapshot</a:t></a:r><a:endParaRPr lang="pt-BR" sz="980" solidFill="93A0B4"/></a:p></p:txBody></p:sp><p:sp><p:nvSpPr><p:cNvPr id="5" name="Monthly Projection row 1"/><p:cNvSpPr/><p:nvPr/></p:nvSpPr><p:spPr><a:xfrm><a:off x="502920" y="15727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E8EDF5"/><a:t>M1: vendas 3360000.00000000 | caixa -1165913.40000000 | acumulado -1165913.40000000</a:t></a:r><a:endParaRPr lang="pt-BR" sz="760" solidFill="E8EDF5"/></a:p></p:txBody></p:sp><p:sp><p:nvSpPr><p:cNvPr id="6" name="Monthly Projection row 2"/><p:cNvSpPr/><p:nvPr/></p:nvSpPr><p:spPr><a:xfrm><a:off x="502920" y="20756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M2: vendas 3360000.00000000 | caixa -164915.40000000 | acumulado -1330828.80000000</a:t></a:r><a:endParaRPr lang="pt-BR" sz="760" solidFill="93A0B4"/></a:p></p:txBody></p:sp><p:sp><p:nvSpPr><p:cNvPr id="7" name="Monthly Projection row 3"/><p:cNvSpPr/><p:nvPr/></p:nvSpPr><p:spPr><a:xfrm><a:off x="502920" y="25786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M3: vendas 3360000.00000000 | caixa -149417.40000000 | acumulado -1480246.20000000</a:t></a:r><a:endParaRPr lang="pt-BR" sz="760" solidFill="93A0B4"/></a:p></p:txBody></p:sp><p:sp><p:nvSpPr><p:cNvPr id="8" name="Monthly Projection row 4"/><p:cNvSpPr/><p:nvPr/></p:nvSpPr><p:spPr><a:xfrm><a:off x="502920" y="308152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M4: vendas 3360000.00000000 | caixa -133919.40000000 | acumulado -1614165.60000000</a:t></a:r><a:endParaRPr lang="pt-BR" sz="760" solidFill="93A0B4"/></a:p></p:txBody></p:sp><p:sp><p:nvSpPr><p:cNvPr id="9" name="Monthly Projection row 5"/><p:cNvSpPr/><p:nvPr/></p:nvSpPr><p:spPr><a:xfrm><a:off x="502920" y="358444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M5: vendas 3360000.00000000 | caixa -95511.31600000 | acumulado -1709676.91600000</a:t></a:r><a:endParaRPr lang="pt-BR" sz="760" solidFill="93A0B4"/></a:p></p:txBody></p:sp><p:sp><p:nvSpPr><p:cNvPr id="10" name="Monthly Projection row 6"/><p:cNvSpPr/><p:nvPr/></p:nvSpPr><p:spPr><a:xfrm><a:off x="502920" y="40873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M6: vendas 3360000.00000000 | caixa -57103.23200000 | acumulado -1766780.14800000</a:t></a:r><a:endParaRPr lang="pt-BR" sz="760" solidFill="93A0B4"/></a:p></p:txBody></p:sp><p:sp><p:nvSpPr><p:cNvPr id="11" name="Monthly Projection row 7"/><p:cNvSpPr/><p:nvPr/></p:nvSpPr><p:spPr><a:xfrm><a:off x="502920" y="45902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M7: vendas 3360000.00000000 | caixa -18695.14800000 | acumulado -1785475.29600000</a:t></a:r><a:endParaRPr lang="pt-BR" sz="760" solidFill="93A0B4"/></a:p></p:txBody></p:sp><p:sp><p:nvSpPr><p:cNvPr id="12" name="Monthly Projection row 8"/><p:cNvSpPr/><p:nvPr/></p:nvSpPr><p:spPr><a:xfrm><a:off x="502920" y="50932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M8: vendas 3360000.00000000 | caixa 19712.93600000 | acumulado -1765762.36000000</a:t></a:r><a:endParaRPr lang="pt-BR" sz="760" solidFill="93A0B4"/></a:p></p:txBody></p:sp><p:sp><p:nvSpPr><p:cNvPr id="20" name="Model provenance"/><p:cNvSpPr/><p:nvPr/></p:nvSpPr><p:spPr><a:xfrm><a:off x="502920" y="6355080"/><a:ext cx="11155680" cy="18288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520" b="1" solidFill="E8BD5A"/><a:t>MODELO FINANCEIRO HARMONY_COMPAT_V1 · Harmony Compatível V1 · FORMULA SET 1.0.0 · ENGINE harmony-compat-engine-v1 · SNAPSHOT HASH 43318f57675ae82fa0d6005a27e08ed2671a4458e3c5677f6d15dac078cbe3bd</a:t></a:r><a:endParaRPr lang="pt-BR" sz="520" solidFill="E8BD5A"/></a:p></p:txBody></p:sp></p:spTree></p:cSld><p:clrMapOvr><a:masterClrMapping/></p:clrMapOvr></p:sld>
</file>

<file path=ppt/slides/slide4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0B1220"/></a:solidFill><a:ln><a:solidFill><a:srgbClr val="0B1220"/></a:solidFill></a:ln></p:spPr></p:sp><p:sp><p:nvSpPr><p:cNvPr id="3" name="Title"/><p:cNvSpPr/><p:nvPr/></p:nvSpPr><p:spPr><a:xfrm><a:off x="502920" y="411480"/><a:ext cx="7772400" cy="5029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2500" b="1" solidFill="E8EDF5"/><a:t>Scenarios</a:t></a:r><a:endParaRPr lang="pt-BR" sz="2500" solidFill="E8EDF5"/></a:p></p:txBody></p:sp><p:sp><p:nvSpPr><p:cNvPr id="4" name="Subtitle"/><p:cNvSpPr/><p:nvPr/></p:nvSpPr><p:spPr><a:xfrm><a:off x="502920" y="987552"/><a:ext cx="9601200" cy="2743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980" solidFill="93A0B4"/><a:t>Cenários anexados ou estado honesto de ausência</a:t></a:r><a:endParaRPr lang="pt-BR" sz="980" solidFill="93A0B4"/></a:p></p:txBody></p:sp><p:sp><p:nvSpPr><p:cNvPr id="5" name="Scenarios row 1"/><p:cNvSpPr/><p:nvPr/></p:nvSpPr><p:spPr><a:xfrm><a:off x="502920" y="15727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E8EDF5"/><a:t>Pack A71543B57E2F · seleção 278F95FC5B9D</a:t></a:r><a:endParaRPr lang="pt-BR" sz="760" solidFill="E8EDF5"/></a:p></p:txBody></p:sp><p:sp><p:nvSpPr><p:cNvPr id="6" name="Scenarios row 2"/><p:cNvSpPr/><p:nvPr/></p:nvSpPr><p:spPr><a:xfrm><a:off x="502920" y="20756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Baseline · baseline/baseline · comparable · horizonte 144 · data-base M0 · snapshot 43318F57675A · VPL 23086488.47142834 · caixa 56704793.28000000</a:t></a:r><a:endParaRPr lang="pt-BR" sz="760" solidFill="93A0B4"/></a:p></p:txBody></p:sp><p:sp><p:nvSpPr><p:cNvPr id="20" name="Model provenance"/><p:cNvSpPr/><p:nvPr/></p:nvSpPr><p:spPr><a:xfrm><a:off x="502920" y="6355080"/><a:ext cx="11155680" cy="18288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520" b="1" solidFill="E8BD5A"/><a:t>MODELO FINANCEIRO HARMONY_COMPAT_V1 · Harmony Compatível V1 · FORMULA SET 1.0.0 · ENGINE harmony-compat-engine-v1 · SNAPSHOT HASH 43318f57675ae82fa0d6005a27e08ed2671a4458e3c5677f6d15dac078cbe3bd</a:t></a:r><a:endParaRPr lang="pt-BR" sz="520" solidFill="E8BD5A"/></a:p></p:txBody></p:sp></p:spTree></p:cSld><p:clrMapOvr><a:masterClrMapping/></p:clrMapOvr></p:sld>
</file>

<file path=ppt/slides/slide5.xml><?xml version="1.0" encoding="UTF-8" standalone="yes"?><p:sld xmlns:a="http://schemas.openxmlformats.org/drawingml/2006/main" xmlns:r="http://schemas.openxmlformats.org/officeDocument/2006/relationships" xmlns:p="http://schemas.openxmlformats.org/presentationml/2006/main"><p:cSld><p:sp><p:nvGrpSpPr><p:cNvPr id="1" name=""/><p:cNvGrpSpPr/><p:nvPr/></p:nvGrpSpPr><p:grpSpPr><a:xfrm><a:off x="0" y="0"/><a:ext cx="0" cy="0"/><a:chOff x="0" y="0"/><a:chExt cx="0" cy="0"/></a:xfrm></p:grpSpPr><p:sp><p:nvSpPr><p:cNvPr id="2" name="Background"/><p:cNvSpPr/><p:nvPr/></p:nvSpPr><p:spPr><a:xfrm><a:off x="0" y="0"/><a:ext cx="12191695" cy="6858000"/></a:xfrm><a:prstGeom prst="rect"><a:avLst/></a:prstGeom><a:solidFill><a:srgbClr val="0B1220"/></a:solidFill><a:ln><a:solidFill><a:srgbClr val="0B1220"/></a:solidFill></a:ln></p:spPr></p:sp><p:sp><p:nvSpPr><p:cNvPr id="3" name="Title"/><p:cNvSpPr/><p:nvPr/></p:nvSpPr><p:spPr><a:xfrm><a:off x="502920" y="411480"/><a:ext cx="7772400" cy="5029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2500" b="1" solidFill="E8EDF5"/><a:t>Formulas</a:t></a:r><a:endParaRPr lang="pt-BR" sz="2500" solidFill="E8EDF5"/></a:p></p:txBody></p:sp><p:sp><p:nvSpPr><p:cNvPr id="4" name="Subtitle"/><p:cNvSpPr/><p:nvPr/></p:nvSpPr><p:spPr><a:xfrm><a:off x="502920" y="987552"/><a:ext cx="9601200" cy="27432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980" solidFill="93A0B4"/><a:t>Memória versionada de cálculo</a:t></a:r><a:endParaRPr lang="pt-BR" sz="980" solidFill="93A0B4"/></a:p></p:txBody></p:sp><p:sp><p:nvSpPr><p:cNvPr id="5" name="Formulas row 1"/><p:cNvSpPr/><p:nvPr/></p:nvSpPr><p:spPr><a:xfrm><a:off x="502920" y="15727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E8EDF5"/><a:t>harmony-cancellation-immediate@1.0.0 | Cancelamento imediato Harmony: 3120.00000000</a:t></a:r><a:endParaRPr lang="pt-BR" sz="760" solidFill="E8EDF5"/></a:p></p:txBody></p:sp><p:sp><p:nvSpPr><p:cNvPr id="6" name="Formulas row 2"/><p:cNvSpPr/><p:nvPr/></p:nvSpPr><p:spPr><a:xfrm><a:off x="502920" y="20756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harmony-gross-entry-generated@1.0.0 | Entrada contratada Harmony: 9984000.00000000</a:t></a:r><a:endParaRPr lang="pt-BR" sz="760" solidFill="93A0B4"/></a:p></p:txBody></p:sp><p:sp><p:nvSpPr><p:cNvPr id="7" name="Formulas row 3"/><p:cNvSpPr/><p:nvPr/></p:nvSpPr><p:spPr><a:xfrm><a:off x="502920" y="25786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harmony-balance-settled-m5@1.0.0 | Saldo recebido com início em M5 Harmony: 77376000.00000000</a:t></a:r><a:endParaRPr lang="pt-BR" sz="760" solidFill="93A0B4"/></a:p></p:txBody></p:sp><p:sp><p:nvSpPr><p:cNvPr id="8" name="Formulas row 4"/><p:cNvSpPr/><p:nvPr/></p:nvSpPr><p:spPr><a:xfrm><a:off x="502920" y="308152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harmony-total-receivables-settled@1.0.0 | Recebíveis totais liquidados Harmony: 87360000.00000000</a:t></a:r><a:endParaRPr lang="pt-BR" sz="760" solidFill="93A0B4"/></a:p></p:txBody></p:sp><p:sp><p:nvSpPr><p:cNvPr id="9" name="Formulas row 5"/><p:cNvSpPr/><p:nvPr/></p:nvSpPr><p:spPr><a:xfrm><a:off x="502920" y="358444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harmony-delinquency-informational@1.0.0 | Inadimplência informativa Harmony: 0.00000000</a:t></a:r><a:endParaRPr lang="pt-BR" sz="760" solidFill="93A0B4"/></a:p></p:txBody></p:sp><p:sp><p:nvSpPr><p:cNvPr id="10" name="Formulas row 6"/><p:cNvSpPr/><p:nvPr/></p:nvSpPr><p:spPr><a:xfrm><a:off x="502920" y="408736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harmony-line-costs@1.0.0 | Custos por linha Harmony: 1597440.00000000</a:t></a:r><a:endParaRPr lang="pt-BR" sz="760" solidFill="93A0B4"/></a:p></p:txBody></p:sp><p:sp><p:nvSpPr><p:cNvPr id="11" name="Formulas row 7"/><p:cNvSpPr/><p:nvPr/></p:nvSpPr><p:spPr><a:xfrm><a:off x="502920" y="459028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harmony-pre-operational-investment@1.0.0 | Investimento pré-operacional Harmony: 985500.00000000</a:t></a:r><a:endParaRPr lang="pt-BR" sz="760" solidFill="93A0B4"/></a:p></p:txBody></p:sp><p:sp><p:nvSpPr><p:cNvPr id="12" name="Formulas row 8"/><p:cNvSpPr/><p:nvPr/></p:nvSpPr><p:spPr><a:xfrm><a:off x="502920" y="5093208"/><a:ext cx="11173968" cy="384048"/></a:xfrm><a:prstGeom prst="rect"><a:avLst/></a:prstGeom><a:solidFill><a:srgbClr val="111C2F"/></a:solidFill><a:ln><a:solidFill><a:srgbClr val="263750"/></a:solidFill></a:ln></p:spPr><p:txBody><a:bodyPr lIns="64008" rIns="64008" tIns="64008" bIns="64008"/><a:lstStyle/><a:p><a:r><a:rPr lang="pt-BR" sz="760" solidFill="93A0B4"/><a:t>harmony-kpis@1.0.0 | Indicadores financeiros Harmony: 1785475.29600000</a:t></a:r><a:endParaRPr lang="pt-BR" sz="760" solidFill="93A0B4"/></a:p></p:txBody></p:sp><p:sp><p:nvSpPr><p:cNvPr id="20" name="Model provenance"/><p:cNvSpPr/><p:nvPr/></p:nvSpPr><p:spPr><a:xfrm><a:off x="502920" y="6355080"/><a:ext cx="11155680" cy="182880"/></a:xfrm><a:prstGeom prst="rect"><a:avLst/></a:prstGeom><a:solidFill><a:srgbClr val="0B1220"/></a:solidFill><a:ln><a:solidFill><a:srgbClr val="0B1220"/></a:solidFill></a:ln></p:spPr><p:txBody><a:bodyPr lIns="0" rIns="0" tIns="0" bIns="0"/><a:lstStyle/><a:p><a:r><a:rPr lang="pt-BR" sz="520" b="1" solidFill="E8BD5A"/><a:t>MODELO FINANCEIRO HARMONY_COMPAT_V1 · Harmony Compatível V1 · FORMULA SET 1.0.0 · ENGINE harmony-compat-engine-v1 · SNAPSHOT HASH 43318f57675ae82fa0d6005a27e08ed2671a4458e3c5677f6d15dac078cbe3bd</a:t></a:r><a:endParaRPr lang="pt-BR" sz="520" solidFill="E8BD5A"/></a:p></p:txBody></p:sp></p:spTree></p:cSld><p:clrMapOvr><a:masterClrMapping/></p:clrMapOvr></p:sld>
</file>

<file path=ppt/theme/theme1.xml><?xml version="1.0" encoding="utf-8"?>
<a:theme xmlns:a="http://schemas.openxmlformats.org/drawingml/2006/main" name="TGR">
  <a:themeElements>
    <a:clrScheme name="TGR">
      <a:dk1>
        <a:srgbClr val="0B1220"/>
      </a:dk1>
      <a:lt1>
        <a:srgbClr val="E8EDF5"/>
      </a:lt1>
      <a:dk2>
        <a:srgbClr val="111C2F"/>
      </a:dk2>
      <a:lt2>
        <a:srgbClr val="FFFFFF"/>
      </a:lt2>
      <a:accent1>
        <a:srgbClr val="E8BD5A"/>
      </a:accent1>
      <a:accent2>
        <a:srgbClr val="5EEAD4"/>
      </a:accent2>
      <a:accent3>
        <a:srgbClr val="93A0B4"/>
      </a:accent3>
      <a:accent4>
        <a:srgbClr val="263750"/>
      </a:accent4>
      <a:accent5>
        <a:srgbClr val="22C55E"/>
      </a:accent5>
      <a:accent6>
        <a:srgbClr val="F59E0B"/>
      </a:accent6>
      <a:hlink>
        <a:srgbClr val="5EEAD4"/>
      </a:hlink>
      <a:folHlink>
        <a:srgbClr val="93A0B4"/>
      </a:folHlink>
    </a:clrScheme>
    <a:fontScheme name="TGR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TGR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TGR Consulting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TGR Master E2E Owner &lt;tgr-master-e2e@test.local&gt;</dc:creator>
  <dc:title>Boardroom Snapshot</dc:title>
  <dc:subject>Snapshot hash 43318f57675ae82fa0d6005a27e08ed2671a4458e3c5677f6d15dac078cbe3bd | snapshot 81k_JA0ROBKLLwd2z4uSV | version x0c6XYXMuJ-Dy1zuDuvsr | generated 2026-09-01T21:46:57.551Z | author TGR Master E2E Owner &lt;tgr-master-e2e@test.local&gt; | lifecycle baseline | approval approved | pack a71543b57e2f339eea210b6559246b5df2bb9efd2f841bcd73dfef495b71edef | formula set 1.0.0 | engine harmony-compat-engine-v1 | financial model HARMONY_COMPAT_V1 | financial model label Harmony Compatível V1 | authority CANONICAL_FROM_HARMONY_MASTER_V1 | available source docs/tgr/golden/COTAS_NATAL_HARMONY_GOLDEN_V1_RULES.json | canonical Harmony golden certified | source conflicts SC-001</dc:subject>
  <dcterms:created xsi:type="dcterms:W3CDTF">2026-09-01T21:46:57.551Z</dcterms:created>
  <dcterms:modified xsi:type="dcterms:W3CDTF">2026-09-01T21:46:57.551Z</dcterms:modified>
</cp:coreProperties>
</file>